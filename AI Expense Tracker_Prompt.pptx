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304" r:id="rId22"/>
    <p:sldId id="297" r:id="rId23"/>
    <p:sldId id="298" r:id="rId24"/>
    <p:sldId id="299" r:id="rId25"/>
    <p:sldId id="300" r:id="rId26"/>
    <p:sldId id="301" r:id="rId27"/>
    <p:sldId id="302" r:id="rId28"/>
    <p:sldId id="303" r:id="rId29"/>
    <p:sldId id="280" r:id="rId30"/>
  </p:sldIdLst>
  <p:sldSz cx="12192000" cy="6858000"/>
  <p:notesSz cx="6858000" cy="9144000"/>
  <p:embeddedFontLst>
    <p:embeddedFont>
      <p:font typeface="Quattrocento Sans" panose="020B0502050000020003"/>
      <p:regular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2226" userDrawn="1">
          <p15:clr>
            <a:srgbClr val="A4A3A4"/>
          </p15:clr>
        </p15:guide>
        <p15:guide id="2" pos="51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226"/>
        <p:guide pos="5139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p2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Thank you for your attention. This project reflects my goal to make personal finance management smarter, simpler, and more accessible for everyone.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5"/>
          <p:cNvSpPr txBox="1"/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5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5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5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gallery dir="l"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6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6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6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6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gallery dir="l"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7"/>
          <p:cNvSpPr txBox="1"/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7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7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7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gallery dir="l"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8"/>
          <p:cNvSpPr txBox="1"/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8"/>
          <p:cNvSpPr txBox="1"/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8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8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8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gallery dir="l"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9"/>
          <p:cNvSpPr txBox="1"/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29"/>
          <p:cNvSpPr txBox="1"/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9"/>
          <p:cNvSpPr txBox="1"/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29"/>
          <p:cNvSpPr txBox="1"/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9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9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9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gallery dir="l"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0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0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0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gallery dir="l"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1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1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gallery dir="l"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2"/>
          <p:cNvSpPr txBox="1"/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2"/>
          <p:cNvSpPr txBox="1"/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2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2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2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gallery dir="l"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3"/>
          <p:cNvSpPr/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3"/>
          <p:cNvSpPr txBox="1"/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3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gallery dir="l"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4"/>
          <p:cNvSpPr txBox="1"/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gallery dir="l"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5"/>
          <p:cNvSpPr txBox="1"/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5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5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5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gallery dir="l"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1" name="Google Shape;11;p24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4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4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>
        <p14:gallery dir="l"/>
      </p:transition>
    </mc:Choice>
    <mc:Fallback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1"/>
            </a:gs>
            <a:gs pos="100000">
              <a:srgbClr val="000000"/>
            </a:gs>
          </a:gsLst>
          <a:lin ang="0" scaled="0"/>
        </a:gradFill>
        <a:effectLst/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325245" y="304800"/>
            <a:ext cx="9549130" cy="4525010"/>
          </a:xfrm>
          <a:prstGeom prst="rect">
            <a:avLst/>
          </a:prstGeom>
          <a:gradFill>
            <a:gsLst>
              <a:gs pos="0">
                <a:srgbClr val="5A51B2"/>
              </a:gs>
              <a:gs pos="85000">
                <a:schemeClr val="accent5"/>
              </a:gs>
              <a:gs pos="100000">
                <a:srgbClr val="7030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 sz="4800">
                <a:solidFill>
                  <a:schemeClr val="lt1"/>
                </a:solidFill>
              </a:rPr>
              <a:t>        </a:t>
            </a:r>
            <a:br>
              <a:rPr lang="en-US" sz="4800">
                <a:solidFill>
                  <a:schemeClr val="lt1"/>
                </a:solidFill>
              </a:rPr>
            </a:br>
            <a:br>
              <a:rPr lang="en-US" sz="4800">
                <a:solidFill>
                  <a:schemeClr val="lt1"/>
                </a:solidFill>
              </a:rPr>
            </a:br>
            <a:r>
              <a:rPr lang="en-US" sz="4800">
                <a:solidFill>
                  <a:schemeClr val="lt1"/>
                </a:solidFill>
              </a:rPr>
              <a:t>AI Expense Tracker — Smart Financial Management</a:t>
            </a:r>
            <a:r>
              <a:rPr lang="en-US" sz="3200">
                <a:solidFill>
                  <a:srgbClr val="FF0000"/>
                </a:solidFill>
              </a:rPr>
              <a:t>(promt)</a:t>
            </a:r>
            <a:endParaRPr lang="en-US" sz="3200">
              <a:solidFill>
                <a:srgbClr val="FF0000"/>
              </a:solidFill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210945" y="4841240"/>
            <a:ext cx="2611120" cy="150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90204"/>
              <a:buNone/>
            </a:pPr>
            <a:r>
              <a:rPr lang="en-US" sz="2000" b="0" i="1" u="none" strike="noStrike" cap="none">
                <a:solidFill>
                  <a:schemeClr val="lt1"/>
                </a:solidFill>
                <a:latin typeface="Quattrocento Sans" panose="020B0502050000020003"/>
                <a:ea typeface="Quattrocento Sans" panose="020B0502050000020003"/>
                <a:cs typeface="Quattrocento Sans" panose="020B0502050000020003"/>
                <a:sym typeface="Quattrocento Sans" panose="020B0502050000020003"/>
              </a:rPr>
              <a:t>Team members: </a:t>
            </a:r>
            <a:endParaRPr sz="2000" b="0" i="1" u="none" strike="noStrike" cap="none">
              <a:solidFill>
                <a:schemeClr val="lt1"/>
              </a:solidFill>
              <a:latin typeface="Quattrocento Sans" panose="020B0502050000020003"/>
              <a:ea typeface="Quattrocento Sans" panose="020B0502050000020003"/>
              <a:cs typeface="Quattrocento Sans" panose="020B0502050000020003"/>
              <a:sym typeface="Quattrocento Sans" panose="020B0502050000020003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90204"/>
              <a:buAutoNum type="arabicPeriod"/>
            </a:pPr>
            <a:r>
              <a:rPr lang="en-US" sz="2000" b="0" i="1" u="none" strike="noStrike" cap="none">
                <a:solidFill>
                  <a:schemeClr val="lt1"/>
                </a:solidFill>
                <a:latin typeface="Quattrocento Sans" panose="020B0502050000020003"/>
                <a:ea typeface="Quattrocento Sans" panose="020B0502050000020003"/>
                <a:cs typeface="Quattrocento Sans" panose="020B0502050000020003"/>
                <a:sym typeface="Quattrocento Sans" panose="020B0502050000020003"/>
              </a:rPr>
              <a:t>1. Nem Sothea</a:t>
            </a:r>
            <a:endParaRPr sz="2000" b="0" i="1" u="none" strike="noStrike" cap="none">
              <a:solidFill>
                <a:schemeClr val="lt1"/>
              </a:solidFill>
              <a:latin typeface="Quattrocento Sans" panose="020B0502050000020003"/>
              <a:ea typeface="Quattrocento Sans" panose="020B0502050000020003"/>
              <a:cs typeface="Quattrocento Sans" panose="020B0502050000020003"/>
              <a:sym typeface="Quattrocento Sans" panose="020B0502050000020003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90204"/>
              <a:buAutoNum type="arabicPeriod"/>
            </a:pPr>
            <a:r>
              <a:rPr lang="en-US" sz="2000" b="0" i="1" u="none" strike="noStrike" cap="none">
                <a:solidFill>
                  <a:schemeClr val="lt1"/>
                </a:solidFill>
                <a:latin typeface="Quattrocento Sans" panose="020B0502050000020003"/>
                <a:ea typeface="Quattrocento Sans" panose="020B0502050000020003"/>
                <a:cs typeface="Quattrocento Sans" panose="020B0502050000020003"/>
                <a:sym typeface="Quattrocento Sans" panose="020B0502050000020003"/>
              </a:rPr>
              <a:t>2. Suon Pisey</a:t>
            </a:r>
            <a:endParaRPr sz="2000" b="0" i="1" u="none" strike="noStrike" cap="none">
              <a:solidFill>
                <a:schemeClr val="lt1"/>
              </a:solidFill>
              <a:latin typeface="Quattrocento Sans" panose="020B0502050000020003"/>
              <a:ea typeface="Quattrocento Sans" panose="020B0502050000020003"/>
              <a:cs typeface="Quattrocento Sans" panose="020B0502050000020003"/>
              <a:sym typeface="Quattrocento Sans" panose="020B0502050000020003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90204"/>
              <a:buAutoNum type="arabicPeriod"/>
            </a:pPr>
            <a:r>
              <a:rPr lang="en-US" sz="2000" b="0" i="1" u="none" strike="noStrike" cap="none">
                <a:solidFill>
                  <a:schemeClr val="lt1"/>
                </a:solidFill>
                <a:latin typeface="Quattrocento Sans" panose="020B0502050000020003"/>
                <a:ea typeface="Quattrocento Sans" panose="020B0502050000020003"/>
                <a:cs typeface="Quattrocento Sans" panose="020B0502050000020003"/>
                <a:sym typeface="Quattrocento Sans" panose="020B0502050000020003"/>
              </a:rPr>
              <a:t>3. Sourn Savourn</a:t>
            </a:r>
            <a:endParaRPr sz="2000" b="0" i="1" u="none" strike="noStrike" cap="none">
              <a:solidFill>
                <a:schemeClr val="lt1"/>
              </a:solidFill>
              <a:latin typeface="Quattrocento Sans" panose="020B0502050000020003"/>
              <a:ea typeface="Quattrocento Sans" panose="020B0502050000020003"/>
              <a:cs typeface="Quattrocento Sans" panose="020B0502050000020003"/>
              <a:sym typeface="Quattrocento Sans" panose="020B0502050000020003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90204"/>
              <a:buAutoNum type="arabicPeriod"/>
            </a:pPr>
            <a:r>
              <a:rPr lang="en-US" sz="2000" b="0" i="1" u="none" strike="noStrike" cap="none">
                <a:solidFill>
                  <a:schemeClr val="lt1"/>
                </a:solidFill>
                <a:latin typeface="Quattrocento Sans" panose="020B0502050000020003"/>
                <a:ea typeface="Quattrocento Sans" panose="020B0502050000020003"/>
                <a:cs typeface="Quattrocento Sans" panose="020B0502050000020003"/>
                <a:sym typeface="Quattrocento Sans" panose="020B0502050000020003"/>
              </a:rPr>
              <a:t>4. Oun Sreynich</a:t>
            </a:r>
            <a:endParaRPr sz="2000" b="0" i="1" u="none" strike="noStrike" cap="none">
              <a:solidFill>
                <a:schemeClr val="lt1"/>
              </a:solidFill>
              <a:latin typeface="Quattrocento Sans" panose="020B0502050000020003"/>
              <a:ea typeface="Quattrocento Sans" panose="020B0502050000020003"/>
              <a:cs typeface="Quattrocento Sans" panose="020B0502050000020003"/>
              <a:sym typeface="Quattrocento Sans" panose="020B0502050000020003"/>
            </a:endParaRPr>
          </a:p>
        </p:txBody>
      </p:sp>
      <p:pic>
        <p:nvPicPr>
          <p:cNvPr id="90" name="Google Shape;90;p1" descr="AI Expense"/>
          <p:cNvPicPr preferRelativeResize="0"/>
          <p:nvPr/>
        </p:nvPicPr>
        <p:blipFill rotWithShape="1">
          <a:blip r:embed="rId1"/>
          <a:srcRect l="6716" r="8146"/>
          <a:stretch>
            <a:fillRect/>
          </a:stretch>
        </p:blipFill>
        <p:spPr>
          <a:xfrm>
            <a:off x="5019675" y="404495"/>
            <a:ext cx="2117090" cy="212852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1"/>
            </a:gs>
            <a:gs pos="100000">
              <a:srgbClr val="0E2557"/>
            </a:gs>
          </a:gsLst>
          <a:lin ang="0" scaled="0"/>
        </a:gradFill>
        <a:effectLst/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838200" y="61595"/>
            <a:ext cx="5309870" cy="1038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 sz="4000" b="1">
                <a:solidFill>
                  <a:schemeClr val="lt1"/>
                </a:solidFill>
              </a:rPr>
              <a:t>Content</a:t>
            </a:r>
            <a:endParaRPr sz="4000" b="1">
              <a:solidFill>
                <a:schemeClr val="lt1"/>
              </a:solidFill>
            </a:endParaRPr>
          </a:p>
        </p:txBody>
      </p:sp>
      <p:sp>
        <p:nvSpPr>
          <p:cNvPr id="96" name="Google Shape;96;p2"/>
          <p:cNvSpPr txBox="1"/>
          <p:nvPr>
            <p:ph type="body" idx="1"/>
          </p:nvPr>
        </p:nvSpPr>
        <p:spPr>
          <a:xfrm>
            <a:off x="838200" y="1007239"/>
            <a:ext cx="10515600" cy="57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00" lvl="0" indent="-457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AutoNum type="arabicParenR"/>
            </a:pPr>
            <a:r>
              <a:rPr lang="en-US" altLang="en-US" sz="2400" b="1">
                <a:solidFill>
                  <a:schemeClr val="lt1"/>
                </a:solidFill>
                <a:sym typeface="+mn-ea"/>
              </a:rPr>
              <a:t>Spring Boot Backend Development </a:t>
            </a:r>
            <a:r>
              <a:rPr lang="en-US" altLang="en-US" sz="2400" b="1">
                <a:solidFill>
                  <a:schemeClr val="lt1"/>
                </a:solidFill>
                <a:sym typeface="+mn-ea"/>
              </a:rPr>
              <a:t>Prompt</a:t>
            </a:r>
            <a:endParaRPr lang="en-US" altLang="en-US" sz="2400" b="1">
              <a:solidFill>
                <a:schemeClr val="lt1"/>
              </a:solidFill>
              <a:sym typeface="+mn-ea"/>
            </a:endParaRPr>
          </a:p>
          <a:p>
            <a:pPr marL="635000" lvl="0" indent="-457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AutoNum type="arabicParenR"/>
            </a:pPr>
            <a:r>
              <a:rPr lang="en-US" altLang="en-US" sz="2400" b="1">
                <a:solidFill>
                  <a:schemeClr val="lt1"/>
                </a:solidFill>
              </a:rPr>
              <a:t>React Frontend Development Prompt</a:t>
            </a:r>
            <a:endParaRPr lang="en-US" altLang="en-US" sz="2400">
              <a:solidFill>
                <a:schemeClr val="lt1"/>
              </a:solidFill>
            </a:endParaRPr>
          </a:p>
          <a:p>
            <a:pPr marL="635000" lvl="0" indent="-457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AutoNum type="arabicParenR"/>
            </a:pPr>
            <a:r>
              <a:rPr lang="en-US" altLang="en-US" sz="2400" b="1">
                <a:solidFill>
                  <a:schemeClr val="lt1"/>
                </a:solidFill>
              </a:rPr>
              <a:t>SwiftUI iOS Development Prompt</a:t>
            </a:r>
            <a:endParaRPr lang="en-US" altLang="en-US" sz="2400">
              <a:solidFill>
                <a:schemeClr val="lt1"/>
              </a:solidFill>
            </a:endParaRPr>
          </a:p>
          <a:p>
            <a:pPr marL="514350" lvl="0" indent="-336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400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1"/>
            </a:gs>
            <a:gs pos="100000">
              <a:srgbClr val="0E2557"/>
            </a:gs>
          </a:gsLst>
          <a:lin ang="0" scaled="0"/>
        </a:gradFill>
        <a:effectLst/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838200" y="61595"/>
            <a:ext cx="10767695" cy="1038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+mj-lt"/>
            </a:pPr>
            <a:r>
              <a:rPr lang="en-US" altLang="en-US" sz="4000" b="1">
                <a:solidFill>
                  <a:schemeClr val="lt1"/>
                </a:solidFill>
              </a:rPr>
              <a:t>1) Spring Boot Backend Development Prompt(1)</a:t>
            </a:r>
            <a:endParaRPr lang="en-US" altLang="en-US" sz="4000" b="1">
              <a:solidFill>
                <a:schemeClr val="lt1"/>
              </a:solidFill>
            </a:endParaRPr>
          </a:p>
        </p:txBody>
      </p:sp>
      <p:sp>
        <p:nvSpPr>
          <p:cNvPr id="96" name="Google Shape;96;p2"/>
          <p:cNvSpPr txBox="1"/>
          <p:nvPr>
            <p:ph type="body" idx="1"/>
          </p:nvPr>
        </p:nvSpPr>
        <p:spPr>
          <a:xfrm>
            <a:off x="838200" y="1007239"/>
            <a:ext cx="10515600" cy="57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</a:rPr>
              <a:t>Create a complete Spring Boot backend application for an AI Expense Tracker with the following specifications:</a:t>
            </a:r>
            <a:endParaRPr lang="en-US" altLang="en-US" sz="1800">
              <a:solidFill>
                <a:schemeClr val="lt1"/>
              </a:solidFill>
            </a:endParaRPr>
          </a:p>
          <a:p>
            <a:pPr marL="1092200" lvl="1" indent="-457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AutoNum type="arabicParenR"/>
            </a:pPr>
            <a:r>
              <a:rPr lang="en-US" altLang="en-US" sz="1800">
                <a:solidFill>
                  <a:schemeClr val="lt1"/>
                </a:solidFill>
              </a:rPr>
              <a:t>**PROJECT REQUIREMENTS:**</a:t>
            </a:r>
            <a:endParaRPr lang="en-US" altLang="en-US" sz="18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</a:rPr>
              <a:t>- Spring Boot 3.x with Java 21</a:t>
            </a:r>
            <a:endParaRPr lang="en-US" altLang="en-US" sz="18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</a:rPr>
              <a:t>- JWT-based authentication with OAuth2 social login</a:t>
            </a:r>
            <a:endParaRPr lang="en-US" altLang="en-US" sz="18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</a:rPr>
              <a:t>- Role-based authorization (ROLE_ADMIN, ROLE_CUSTOMER)</a:t>
            </a:r>
            <a:endParaRPr lang="en-US" altLang="en-US" sz="18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</a:rPr>
              <a:t>- PostgreSQL database</a:t>
            </a:r>
            <a:endParaRPr lang="en-US" altLang="en-US" sz="18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</a:rPr>
              <a:t>- RESTful APIs with proper DTOs</a:t>
            </a:r>
            <a:endParaRPr lang="en-US" altLang="en-US" sz="18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</a:rPr>
              <a:t>- Swagger/OpenAPI documentation</a:t>
            </a:r>
            <a:endParaRPr lang="en-US" altLang="en-US" sz="18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</a:rPr>
              <a:t>- CORS configuration for frontend integration</a:t>
            </a:r>
            <a:endParaRPr lang="en-US" altLang="en-US" sz="1800">
              <a:solidFill>
                <a:schemeClr val="lt1"/>
              </a:solidFill>
            </a:endParaRPr>
          </a:p>
          <a:p>
            <a:pPr marL="514350" lvl="0" indent="-336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lang="en-US" altLang="en-US" sz="1800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1"/>
            </a:gs>
            <a:gs pos="100000">
              <a:srgbClr val="0E2557"/>
            </a:gs>
          </a:gsLst>
          <a:lin ang="0" scaled="0"/>
        </a:gradFill>
        <a:effectLst/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838200" y="61595"/>
            <a:ext cx="11272520" cy="1038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742950" lvl="0" indent="-742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+mj-lt"/>
              <a:buAutoNum type="arabicParenR"/>
            </a:pPr>
            <a:r>
              <a:rPr lang="en-US" altLang="en-US" sz="3600" b="1">
                <a:solidFill>
                  <a:schemeClr val="lt1"/>
                </a:solidFill>
              </a:rPr>
              <a:t>Spring Boot Backend Development Prompt(2)</a:t>
            </a:r>
            <a:endParaRPr lang="en-US" altLang="en-US" sz="3600" b="1">
              <a:solidFill>
                <a:schemeClr val="lt1"/>
              </a:solidFill>
            </a:endParaRPr>
          </a:p>
        </p:txBody>
      </p:sp>
      <p:sp>
        <p:nvSpPr>
          <p:cNvPr id="96" name="Google Shape;96;p2"/>
          <p:cNvSpPr txBox="1"/>
          <p:nvPr>
            <p:ph type="body" idx="1"/>
          </p:nvPr>
        </p:nvSpPr>
        <p:spPr>
          <a:xfrm>
            <a:off x="838200" y="1007239"/>
            <a:ext cx="10515600" cy="57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</a:rPr>
              <a:t>**TECHNICAL STACK:**</a:t>
            </a:r>
            <a:endParaRPr lang="en-US" altLang="en-US" sz="18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</a:rPr>
              <a:t>- Spring Security with JWT</a:t>
            </a:r>
            <a:endParaRPr lang="en-US" altLang="en-US" sz="18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</a:rPr>
              <a:t>- Spring Data JPA</a:t>
            </a:r>
            <a:endParaRPr lang="en-US" altLang="en-US" sz="18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</a:rPr>
              <a:t>- Spring OAuth2 Client</a:t>
            </a:r>
            <a:endParaRPr lang="en-US" altLang="en-US" sz="18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</a:rPr>
              <a:t>- Lombok for boilerplate reduction</a:t>
            </a:r>
            <a:endParaRPr lang="en-US" altLang="en-US" sz="18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</a:rPr>
              <a:t>- Hibernate validation</a:t>
            </a:r>
            <a:endParaRPr lang="en-US" altLang="en-US" sz="18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</a:rPr>
              <a:t>- Maven build tool</a:t>
            </a:r>
            <a:endParaRPr lang="en-US" altLang="en-US" sz="18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</a:rPr>
              <a:t>**DOMAIN ENTITIES:**</a:t>
            </a:r>
            <a:endParaRPr lang="en-US" altLang="en-US" sz="18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</a:rPr>
              <a:t>1. **Users** - id, name, email, password, contact, role, enabled, version</a:t>
            </a:r>
            <a:endParaRPr lang="en-US" altLang="en-US" sz="18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</a:rPr>
              <a:t>2. **Category** - id, name, description, enabled, createdAt  </a:t>
            </a:r>
            <a:endParaRPr lang="en-US" altLang="en-US" sz="18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</a:rPr>
              <a:t>3. **Expense** - id, user, category, amount, description, expenseDate, enabled, createdAt</a:t>
            </a:r>
            <a:endParaRPr lang="en-US" altLang="en-US" sz="1800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1"/>
            </a:gs>
            <a:gs pos="100000">
              <a:srgbClr val="0E2557"/>
            </a:gs>
          </a:gsLst>
          <a:lin ang="0" scaled="0"/>
        </a:gradFill>
        <a:effectLst/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838200" y="61595"/>
            <a:ext cx="10996930" cy="1038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742950" lvl="0" indent="-742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+mj-lt"/>
              <a:buAutoNum type="arabicParenR"/>
            </a:pPr>
            <a:r>
              <a:rPr lang="en-US" altLang="en-US" sz="4000" b="1">
                <a:solidFill>
                  <a:schemeClr val="lt1"/>
                </a:solidFill>
              </a:rPr>
              <a:t>Spring Boot Backend Development Prompt(3)</a:t>
            </a:r>
            <a:endParaRPr lang="en-US" altLang="en-US" sz="4000" b="1">
              <a:solidFill>
                <a:schemeClr val="lt1"/>
              </a:solidFill>
            </a:endParaRPr>
          </a:p>
        </p:txBody>
      </p:sp>
      <p:sp>
        <p:nvSpPr>
          <p:cNvPr id="96" name="Google Shape;96;p2"/>
          <p:cNvSpPr txBox="1"/>
          <p:nvPr>
            <p:ph type="body" idx="1"/>
          </p:nvPr>
        </p:nvSpPr>
        <p:spPr>
          <a:xfrm>
            <a:off x="838200" y="1007239"/>
            <a:ext cx="10515600" cy="57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</a:rPr>
              <a:t>**API ENDPOINTS:**</a:t>
            </a:r>
            <a:endParaRPr lang="en-US" altLang="en-US" sz="18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</a:rPr>
              <a:t>- Authentication: `/auth/signup`, `/auth/login`</a:t>
            </a:r>
            <a:endParaRPr lang="en-US" altLang="en-US" sz="18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</a:rPr>
              <a:t>- User Management: CRUD operations with role-based access</a:t>
            </a:r>
            <a:endParaRPr lang="en-US" altLang="en-US" sz="18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</a:rPr>
              <a:t>- Category Management: CRUD with soft delete</a:t>
            </a:r>
            <a:endParaRPr lang="en-US" altLang="en-US" sz="18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</a:rPr>
              <a:t>- Expense Management: </a:t>
            </a:r>
            <a:endParaRPr lang="en-US" altLang="en-US" sz="18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</a:rPr>
              <a:t>  - Admin endpoints: Full CRUD at `/api/expenses`</a:t>
            </a:r>
            <a:endParaRPr lang="en-US" altLang="en-US" sz="18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</a:rPr>
              <a:t>  - User endpoints: Restricted operations at `/api/create-expenses`</a:t>
            </a:r>
            <a:endParaRPr lang="en-US" altLang="en-US" sz="18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</a:rPr>
              <a:t>- Dashboard: Analytics and reporting at `/api/dashboard`</a:t>
            </a:r>
            <a:endParaRPr lang="en-US" altLang="en-US" sz="18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endParaRPr lang="en-US" altLang="en-US" sz="1800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1"/>
            </a:gs>
            <a:gs pos="100000">
              <a:srgbClr val="0E2557"/>
            </a:gs>
          </a:gsLst>
          <a:lin ang="0" scaled="0"/>
        </a:gradFill>
        <a:effectLst/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838200" y="61595"/>
            <a:ext cx="11099165" cy="1038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742950" lvl="0" indent="-742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+mj-lt"/>
              <a:buAutoNum type="arabicParenR"/>
            </a:pPr>
            <a:r>
              <a:rPr lang="en-US" altLang="en-US" sz="4000" b="1">
                <a:solidFill>
                  <a:schemeClr val="lt1"/>
                </a:solidFill>
              </a:rPr>
              <a:t>Spring Boot Backend Development Prompt(4)</a:t>
            </a:r>
            <a:endParaRPr lang="en-US" altLang="en-US" sz="4000" b="1">
              <a:solidFill>
                <a:schemeClr val="lt1"/>
              </a:solidFill>
            </a:endParaRPr>
          </a:p>
        </p:txBody>
      </p:sp>
      <p:sp>
        <p:nvSpPr>
          <p:cNvPr id="96" name="Google Shape;96;p2"/>
          <p:cNvSpPr txBox="1"/>
          <p:nvPr>
            <p:ph type="body" idx="1"/>
          </p:nvPr>
        </p:nvSpPr>
        <p:spPr>
          <a:xfrm>
            <a:off x="838200" y="1007239"/>
            <a:ext cx="10515600" cy="57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</a:rPr>
              <a:t>**PACKAGE STRUCTURE:**</a:t>
            </a:r>
            <a:endParaRPr lang="en-US" altLang="en-US" sz="18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</a:rPr>
              <a:t>src/main/java/com/aiexpense/trackerbackend/</a:t>
            </a:r>
            <a:endParaRPr lang="en-US" altLang="en-US" sz="18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</a:rPr>
              <a:t>- config/ # Security, JWT, OAuth2 configurations</a:t>
            </a:r>
            <a:endParaRPr lang="en-US" altLang="en-US" sz="18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</a:rPr>
              <a:t>- controller/ # REST controllers</a:t>
            </a:r>
            <a:endParaRPr lang="en-US" altLang="en-US" sz="18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</a:rPr>
              <a:t>entities/ # JPA entities</a:t>
            </a:r>
            <a:endParaRPr lang="en-US" altLang="en-US" sz="18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</a:rPr>
              <a:t>- exception/ # Custom exceptions</a:t>
            </a:r>
            <a:endParaRPr lang="en-US" altLang="en-US" sz="18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</a:rPr>
              <a:t>- repo/ # Repository interfaces</a:t>
            </a:r>
            <a:endParaRPr lang="en-US" altLang="en-US" sz="18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</a:rPr>
              <a:t>- service/ # Business logic and DTOs</a:t>
            </a:r>
            <a:endParaRPr lang="en-US" altLang="en-US" sz="18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</a:rPr>
              <a:t>- resources/ # application.properties</a:t>
            </a:r>
            <a:endParaRPr lang="en-US" altLang="en-US" sz="1800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1"/>
            </a:gs>
            <a:gs pos="100000">
              <a:srgbClr val="0E2557"/>
            </a:gs>
          </a:gsLst>
          <a:lin ang="0" scaled="0"/>
        </a:gradFill>
        <a:effectLst/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838200" y="61595"/>
            <a:ext cx="11111865" cy="1038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742950" lvl="0" indent="-742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+mj-lt"/>
              <a:buAutoNum type="arabicParenR"/>
            </a:pPr>
            <a:r>
              <a:rPr lang="en-US" altLang="en-US" sz="4000" b="1">
                <a:solidFill>
                  <a:schemeClr val="lt1"/>
                </a:solidFill>
              </a:rPr>
              <a:t>Spring Boot Backend Development Prompt(5)</a:t>
            </a:r>
            <a:endParaRPr lang="en-US" altLang="en-US" sz="4000" b="1">
              <a:solidFill>
                <a:schemeClr val="lt1"/>
              </a:solidFill>
            </a:endParaRPr>
          </a:p>
        </p:txBody>
      </p:sp>
      <p:sp>
        <p:nvSpPr>
          <p:cNvPr id="96" name="Google Shape;96;p2"/>
          <p:cNvSpPr txBox="1"/>
          <p:nvPr>
            <p:ph type="body" idx="1"/>
          </p:nvPr>
        </p:nvSpPr>
        <p:spPr>
          <a:xfrm>
            <a:off x="838200" y="1007239"/>
            <a:ext cx="10515600" cy="57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</a:rPr>
              <a:t>**SPECIFIC FEATURES NEEDED:**</a:t>
            </a:r>
            <a:endParaRPr lang="en-US" altLang="en-US" sz="18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</a:rPr>
              <a:t>1. JWT filter for request authentication</a:t>
            </a:r>
            <a:endParaRPr lang="en-US" altLang="en-US" sz="18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</a:rPr>
              <a:t>2. OAuth2 success handler for social login</a:t>
            </a:r>
            <a:endParaRPr lang="en-US" altLang="en-US" sz="18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</a:rPr>
              <a:t>3. Custom user principal for Spring Security</a:t>
            </a:r>
            <a:endParaRPr lang="en-US" altLang="en-US" sz="18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</a:rPr>
              <a:t>4. Dashboard with expense analytics (totals, averages, top categories)</a:t>
            </a:r>
            <a:endParaRPr lang="en-US" altLang="en-US" sz="18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</a:rPr>
              <a:t>5. Pagination for expense history</a:t>
            </a:r>
            <a:endParaRPr lang="en-US" altLang="en-US" sz="18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</a:rPr>
              <a:t>6. Soft delete functionality</a:t>
            </a:r>
            <a:endParaRPr lang="en-US" altLang="en-US" sz="18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</a:rPr>
              <a:t>7. Comprehensive error handling</a:t>
            </a:r>
            <a:endParaRPr lang="en-US" altLang="en-US" sz="18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</a:rPr>
              <a:t>8. CORS configuration for frontend</a:t>
            </a:r>
            <a:endParaRPr lang="en-US" altLang="en-US" sz="18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</a:rPr>
              <a:t>9. Swagger documentation with JWT support</a:t>
            </a:r>
            <a:endParaRPr lang="en-US" altLang="en-US" sz="1800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1"/>
            </a:gs>
            <a:gs pos="100000">
              <a:srgbClr val="0E2557"/>
            </a:gs>
          </a:gsLst>
          <a:lin ang="0" scaled="0"/>
        </a:gradFill>
        <a:effectLst/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838200" y="61595"/>
            <a:ext cx="10996295" cy="1038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742950" lvl="0" indent="-742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+mj-lt"/>
              <a:buAutoNum type="arabicParenR"/>
            </a:pPr>
            <a:r>
              <a:rPr lang="en-US" altLang="en-US" sz="4000" b="1">
                <a:solidFill>
                  <a:schemeClr val="lt1"/>
                </a:solidFill>
              </a:rPr>
              <a:t>Spring Boot Backend Development Prompt(6)</a:t>
            </a:r>
            <a:endParaRPr lang="en-US" altLang="en-US" sz="4000" b="1">
              <a:solidFill>
                <a:schemeClr val="lt1"/>
              </a:solidFill>
            </a:endParaRPr>
          </a:p>
        </p:txBody>
      </p:sp>
      <p:sp>
        <p:nvSpPr>
          <p:cNvPr id="96" name="Google Shape;96;p2"/>
          <p:cNvSpPr txBox="1"/>
          <p:nvPr>
            <p:ph type="body" idx="1"/>
          </p:nvPr>
        </p:nvSpPr>
        <p:spPr>
          <a:xfrm>
            <a:off x="838200" y="1007239"/>
            <a:ext cx="10515600" cy="57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  <a:sym typeface="+mn-ea"/>
              </a:rPr>
              <a:t>**SECURITY CONFIGURATION:**</a:t>
            </a:r>
            <a:endParaRPr lang="en-US" altLang="en-US" sz="18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  <a:sym typeface="+mn-ea"/>
              </a:rPr>
              <a:t>- Stateless JWT authentication</a:t>
            </a:r>
            <a:endParaRPr lang="en-US" altLang="en-US" sz="18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  <a:sym typeface="+mn-ea"/>
              </a:rPr>
              <a:t>- Public endpoints for auth and Swagger</a:t>
            </a:r>
            <a:endParaRPr lang="en-US" altLang="en-US" sz="18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  <a:sym typeface="+mn-ea"/>
              </a:rPr>
              <a:t>- Protected endpoints under `/api/**`</a:t>
            </a:r>
            <a:endParaRPr lang="en-US" altLang="en-US" sz="18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  <a:sym typeface="+mn-ea"/>
              </a:rPr>
              <a:t>- Custom authentication entry points</a:t>
            </a:r>
            <a:endParaRPr lang="en-US" altLang="en-US" sz="18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  <a:sym typeface="+mn-ea"/>
              </a:rPr>
              <a:t>- Role-based method security</a:t>
            </a:r>
            <a:endParaRPr lang="en-US" altLang="en-US" sz="1800">
              <a:solidFill>
                <a:schemeClr val="lt1"/>
              </a:solidFill>
              <a:sym typeface="+mn-ea"/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800">
                <a:solidFill>
                  <a:schemeClr val="lt1"/>
                </a:solidFill>
              </a:rPr>
              <a:t>Generate the complete source code for all necessary classes in the specified package structure, including proper imports, annotations, and business logic implementation.</a:t>
            </a:r>
            <a:endParaRPr lang="en-US" altLang="en-US" sz="1800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1"/>
            </a:gs>
            <a:gs pos="100000">
              <a:srgbClr val="0E2557"/>
            </a:gs>
          </a:gsLst>
          <a:lin ang="0" scaled="0"/>
        </a:gradFill>
        <a:effectLst/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838200" y="61595"/>
            <a:ext cx="10996295" cy="1038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742950" lvl="0" indent="-742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+mj-lt"/>
              <a:buAutoNum type="arabicParenR"/>
            </a:pPr>
            <a:r>
              <a:rPr lang="en-US" altLang="en-US" sz="4000" b="1">
                <a:solidFill>
                  <a:schemeClr val="lt1"/>
                </a:solidFill>
              </a:rPr>
              <a:t>Spring Boot Backend Development Prompt(7)</a:t>
            </a:r>
            <a:endParaRPr lang="en-US" altLang="en-US" sz="4000" b="1">
              <a:solidFill>
                <a:schemeClr val="lt1"/>
              </a:solidFill>
            </a:endParaRPr>
          </a:p>
        </p:txBody>
      </p:sp>
      <p:sp>
        <p:nvSpPr>
          <p:cNvPr id="96" name="Google Shape;96;p2"/>
          <p:cNvSpPr txBox="1"/>
          <p:nvPr>
            <p:ph type="body" idx="1"/>
          </p:nvPr>
        </p:nvSpPr>
        <p:spPr>
          <a:xfrm>
            <a:off x="838200" y="1007239"/>
            <a:ext cx="10515600" cy="57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lumMod val="40000"/>
                    <a:lumOff val="60000"/>
                  </a:schemeClr>
                </a:solidFill>
                <a:effectLst/>
                <a:sym typeface="+mn-ea"/>
              </a:rPr>
              <a:t> Shorter Version</a:t>
            </a:r>
            <a:endParaRPr lang="en-US" altLang="en-US" sz="16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  <a:lumMod val="40000"/>
                  <a:lumOff val="60000"/>
                </a:schemeClr>
              </a:solidFill>
              <a:effectLst/>
              <a:sym typeface="+mn-ea"/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Build a Spring Boot expense tracker backend with: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JWT + OAuth2 authentication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Users, Categories, Expenses entities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Admin/Customer role-based access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Dashboard analytics API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PostgreSQL + JPA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Complete security configuration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Swagger documentation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Package structure: config, controller, entities, exception, repo, service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Include: JWT filter, OAuth2 handler, security config, user management, expense CRUD, category management, and dashboard reporting.</a:t>
            </a:r>
            <a:endParaRPr lang="en-US" altLang="en-US" sz="1600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1"/>
            </a:gs>
            <a:gs pos="100000">
              <a:srgbClr val="0E2557"/>
            </a:gs>
          </a:gsLst>
          <a:lin ang="0" scaled="0"/>
        </a:gradFill>
        <a:effectLst/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838200" y="61595"/>
            <a:ext cx="10996295" cy="1038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742950" lvl="0" indent="-742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+mj-lt"/>
              <a:buAutoNum type="arabicParenR" startAt="2"/>
            </a:pPr>
            <a:r>
              <a:rPr lang="en-US" altLang="en-US" sz="4000" b="1">
                <a:solidFill>
                  <a:schemeClr val="lt1"/>
                </a:solidFill>
                <a:sym typeface="+mn-ea"/>
              </a:rPr>
              <a:t>React Frontend Development Prompt(1)</a:t>
            </a:r>
            <a:endParaRPr lang="en-US" altLang="en-US" sz="4000" b="1">
              <a:solidFill>
                <a:schemeClr val="lt1"/>
              </a:solidFill>
            </a:endParaRPr>
          </a:p>
        </p:txBody>
      </p:sp>
      <p:sp>
        <p:nvSpPr>
          <p:cNvPr id="96" name="Google Shape;96;p2"/>
          <p:cNvSpPr txBox="1"/>
          <p:nvPr>
            <p:ph type="body" idx="1"/>
          </p:nvPr>
        </p:nvSpPr>
        <p:spPr>
          <a:xfrm>
            <a:off x="838200" y="1007239"/>
            <a:ext cx="10515600" cy="57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Create a complete React frontend application for an AI Expense Tracker with the following specifications: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**PROJECT REQUIREMENTS:**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React 18 with Vite build tool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JWT-based authentication with protected routes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Redux Toolkit for state management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React Router for navigation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Tailwind CSS for styling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Responsive design with dark mode support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Integration with Spring Boot backend API</a:t>
            </a:r>
            <a:endParaRPr lang="en-US" altLang="en-US" sz="1600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1"/>
            </a:gs>
            <a:gs pos="100000">
              <a:srgbClr val="0E2557"/>
            </a:gs>
          </a:gsLst>
          <a:lin ang="0" scaled="0"/>
        </a:gradFill>
        <a:effectLst/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838200" y="61595"/>
            <a:ext cx="10996295" cy="1038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742950" lvl="0" indent="-742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+mj-lt"/>
              <a:buAutoNum type="arabicParenR" startAt="2"/>
            </a:pPr>
            <a:r>
              <a:rPr lang="en-US" altLang="en-US" sz="4000" b="1">
                <a:solidFill>
                  <a:schemeClr val="lt1"/>
                </a:solidFill>
                <a:sym typeface="+mn-ea"/>
              </a:rPr>
              <a:t>React Frontend Development Prompt(2)</a:t>
            </a:r>
            <a:endParaRPr lang="en-US" altLang="en-US" sz="4000" b="1">
              <a:solidFill>
                <a:schemeClr val="lt1"/>
              </a:solidFill>
            </a:endParaRPr>
          </a:p>
        </p:txBody>
      </p:sp>
      <p:sp>
        <p:nvSpPr>
          <p:cNvPr id="96" name="Google Shape;96;p2"/>
          <p:cNvSpPr txBox="1"/>
          <p:nvPr>
            <p:ph type="body" idx="1"/>
          </p:nvPr>
        </p:nvSpPr>
        <p:spPr>
          <a:xfrm>
            <a:off x="838200" y="1007239"/>
            <a:ext cx="10515600" cy="57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**TECHNICAL STACK:**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React 18 + Vite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Redux Toolkit + React-Redux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React Router DOM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Axios for API calls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JWT-decode for token handling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Tailwind CSS + Lucide React icons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Sonner for notifications</a:t>
            </a:r>
            <a:endParaRPr lang="en-US" altLang="en-US" sz="1600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1"/>
            </a:gs>
            <a:gs pos="100000">
              <a:srgbClr val="0E2557"/>
            </a:gs>
          </a:gsLst>
          <a:lin ang="0" scaled="0"/>
        </a:gradFill>
        <a:effectLst/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838200" y="61595"/>
            <a:ext cx="10996295" cy="1038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742950" lvl="0" indent="-742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+mj-lt"/>
              <a:buAutoNum type="arabicParenR" startAt="2"/>
            </a:pPr>
            <a:r>
              <a:rPr lang="en-US" altLang="en-US" sz="4000" b="1">
                <a:solidFill>
                  <a:schemeClr val="lt1"/>
                </a:solidFill>
                <a:sym typeface="+mn-ea"/>
              </a:rPr>
              <a:t>React Frontend Development Prompt(3)</a:t>
            </a:r>
            <a:endParaRPr lang="en-US" altLang="en-US" sz="4000" b="1">
              <a:solidFill>
                <a:schemeClr val="lt1"/>
              </a:solidFill>
            </a:endParaRPr>
          </a:p>
        </p:txBody>
      </p:sp>
      <p:sp>
        <p:nvSpPr>
          <p:cNvPr id="96" name="Google Shape;96;p2"/>
          <p:cNvSpPr txBox="1"/>
          <p:nvPr>
            <p:ph type="body" idx="1"/>
          </p:nvPr>
        </p:nvSpPr>
        <p:spPr>
          <a:xfrm>
            <a:off x="838200" y="1007239"/>
            <a:ext cx="10515600" cy="57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  <a:sym typeface="+mn-ea"/>
              </a:rPr>
              <a:t>**PROJECT STRUCTURE:**</a:t>
            </a:r>
            <a:endParaRPr lang="en-US" altLang="en-US" sz="1600">
              <a:solidFill>
                <a:schemeClr val="lt1"/>
              </a:solidFill>
              <a:sym typeface="+mn-ea"/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src/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457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components/</a:t>
            </a:r>
            <a:endParaRPr lang="en-US" altLang="en-US" sz="1600">
              <a:solidFill>
                <a:schemeClr val="lt1"/>
              </a:solidFill>
            </a:endParaRPr>
          </a:p>
          <a:p>
            <a:pPr marL="1092200" lvl="2" indent="457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Authentication/</a:t>
            </a:r>
            <a:endParaRPr lang="en-US" altLang="en-US" sz="1600">
              <a:solidFill>
                <a:schemeClr val="lt1"/>
              </a:solidFill>
            </a:endParaRPr>
          </a:p>
          <a:p>
            <a:pPr marL="1092200" lvl="2" indent="457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Pages/</a:t>
            </a:r>
            <a:endParaRPr lang="en-US" altLang="en-US" sz="1600">
              <a:solidFill>
                <a:schemeClr val="lt1"/>
              </a:solidFill>
            </a:endParaRPr>
          </a:p>
          <a:p>
            <a:pPr marL="1092200" lvl="2" indent="457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Reusable/</a:t>
            </a:r>
            <a:endParaRPr lang="en-US" altLang="en-US" sz="1600">
              <a:solidFill>
                <a:schemeClr val="lt1"/>
              </a:solidFill>
            </a:endParaRPr>
          </a:p>
          <a:p>
            <a:pPr marL="1092200" lvl="2" indent="457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Redux/</a:t>
            </a:r>
            <a:endParaRPr lang="en-US" altLang="en-US" sz="1600">
              <a:solidFill>
                <a:schemeClr val="lt1"/>
              </a:solidFill>
            </a:endParaRPr>
          </a:p>
          <a:p>
            <a:pPr marL="1092200" lvl="2" indent="457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Routing/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assets/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images/ (static assets)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App.jsx (main app component)</a:t>
            </a:r>
            <a:endParaRPr lang="en-US" altLang="en-US" sz="1600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1"/>
            </a:gs>
            <a:gs pos="100000">
              <a:srgbClr val="0E2557"/>
            </a:gs>
          </a:gsLst>
          <a:lin ang="0" scaled="0"/>
        </a:gradFill>
        <a:effectLst/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838200" y="61595"/>
            <a:ext cx="10996295" cy="1038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742950" lvl="0" indent="-742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+mj-lt"/>
              <a:buAutoNum type="arabicParenR" startAt="2"/>
            </a:pPr>
            <a:r>
              <a:rPr lang="en-US" altLang="en-US" sz="4000" b="1">
                <a:solidFill>
                  <a:schemeClr val="lt1"/>
                </a:solidFill>
                <a:sym typeface="+mn-ea"/>
              </a:rPr>
              <a:t>React Frontend Development Prompt(4)</a:t>
            </a:r>
            <a:endParaRPr lang="en-US" altLang="en-US" sz="4000" b="1">
              <a:solidFill>
                <a:schemeClr val="lt1"/>
              </a:solidFill>
            </a:endParaRPr>
          </a:p>
        </p:txBody>
      </p:sp>
      <p:sp>
        <p:nvSpPr>
          <p:cNvPr id="96" name="Google Shape;96;p2"/>
          <p:cNvSpPr txBox="1"/>
          <p:nvPr>
            <p:ph type="body" idx="1"/>
          </p:nvPr>
        </p:nvSpPr>
        <p:spPr>
          <a:xfrm>
            <a:off x="838200" y="1007239"/>
            <a:ext cx="10515600" cy="57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**KEY FEATURES NEEDED:**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1. **Authentication System:**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Login/Signup forms with validation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JWT token storage and management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Protected routes based on user roles (ROLE_CUSTOMER, ROLE_ADMIN)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OAuth2 Google login integration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Auto-redirect after authentication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2. **Dashboard Features:**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Main dashboard with expense statistics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Total spent, average transaction, top category cards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Recent expenses list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Tab navigation between Dashboard and History views</a:t>
            </a:r>
            <a:endParaRPr lang="en-US" altLang="en-US" sz="1600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1"/>
            </a:gs>
            <a:gs pos="100000">
              <a:srgbClr val="0E2557"/>
            </a:gs>
          </a:gsLst>
          <a:lin ang="0" scaled="0"/>
        </a:gradFill>
        <a:effectLst/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838200" y="61595"/>
            <a:ext cx="10996295" cy="1038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742950" lvl="0" indent="-742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+mj-lt"/>
              <a:buAutoNum type="arabicParenR" startAt="2"/>
            </a:pPr>
            <a:r>
              <a:rPr lang="en-US" altLang="en-US" sz="4000" b="1">
                <a:solidFill>
                  <a:schemeClr val="lt1"/>
                </a:solidFill>
                <a:sym typeface="+mn-ea"/>
              </a:rPr>
              <a:t>React Frontend Development Prompt(5)</a:t>
            </a:r>
            <a:endParaRPr lang="en-US" altLang="en-US" sz="4000" b="1">
              <a:solidFill>
                <a:schemeClr val="lt1"/>
              </a:solidFill>
            </a:endParaRPr>
          </a:p>
        </p:txBody>
      </p:sp>
      <p:sp>
        <p:nvSpPr>
          <p:cNvPr id="96" name="Google Shape;96;p2"/>
          <p:cNvSpPr txBox="1"/>
          <p:nvPr>
            <p:ph type="body" idx="1"/>
          </p:nvPr>
        </p:nvSpPr>
        <p:spPr>
          <a:xfrm>
            <a:off x="838200" y="1007239"/>
            <a:ext cx="10515600" cy="57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3. **Expense Management:**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Create new expenses with form validation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Edit existing expenses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Delete expenses with confirmation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Category selection from backend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Date picker and amount input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4. **Expense History:**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Paginated transaction list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Advanced filtering (search, category, time period)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Sorting options (date, amount)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Client-side filtering for better UX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Edit/delete actions on each expense</a:t>
            </a:r>
            <a:endParaRPr lang="en-US" altLang="en-US" sz="1600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1"/>
            </a:gs>
            <a:gs pos="100000">
              <a:srgbClr val="0E2557"/>
            </a:gs>
          </a:gsLst>
          <a:lin ang="0" scaled="0"/>
        </a:gradFill>
        <a:effectLst/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838200" y="61595"/>
            <a:ext cx="10996295" cy="1038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742950" lvl="0" indent="-742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+mj-lt"/>
              <a:buAutoNum type="arabicParenR" startAt="2"/>
            </a:pPr>
            <a:r>
              <a:rPr lang="en-US" altLang="en-US" sz="4000" b="1">
                <a:solidFill>
                  <a:schemeClr val="lt1"/>
                </a:solidFill>
                <a:sym typeface="+mn-ea"/>
              </a:rPr>
              <a:t>React Frontend Development Prompt(6)</a:t>
            </a:r>
            <a:endParaRPr lang="en-US" altLang="en-US" sz="4000" b="1">
              <a:solidFill>
                <a:schemeClr val="lt1"/>
              </a:solidFill>
            </a:endParaRPr>
          </a:p>
        </p:txBody>
      </p:sp>
      <p:sp>
        <p:nvSpPr>
          <p:cNvPr id="96" name="Google Shape;96;p2"/>
          <p:cNvSpPr txBox="1"/>
          <p:nvPr>
            <p:ph type="body" idx="1"/>
          </p:nvPr>
        </p:nvSpPr>
        <p:spPr>
          <a:xfrm>
            <a:off x="838200" y="1007110"/>
            <a:ext cx="5661025" cy="3096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5. **UI/UX Components:**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Responsive header with user dropdown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Dark/light mode toggle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Loading states and error handling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Toast notifications for user feedback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Modal forms for expense creation/editing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endParaRPr lang="en-US" altLang="en-US" sz="1600">
              <a:solidFill>
                <a:schemeClr val="lt1"/>
              </a:solidFill>
            </a:endParaRPr>
          </a:p>
        </p:txBody>
      </p:sp>
      <p:sp>
        <p:nvSpPr>
          <p:cNvPr id="2" name="Google Shape;96;p2"/>
          <p:cNvSpPr txBox="1"/>
          <p:nvPr/>
        </p:nvSpPr>
        <p:spPr>
          <a:xfrm>
            <a:off x="5951855" y="924560"/>
            <a:ext cx="6781800" cy="412242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  <a:sym typeface="+mn-ea"/>
              </a:rPr>
              <a:t>**API INTEGRATION:**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  <a:sym typeface="+mn-ea"/>
              </a:rPr>
              <a:t>- Base URL: http://localhost:8080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  <a:sym typeface="+mn-ea"/>
              </a:rPr>
              <a:t>- Endpoints: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  <a:sym typeface="+mn-ea"/>
              </a:rPr>
              <a:t>  - POST /auth/login, /auth/signup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  <a:sym typeface="+mn-ea"/>
              </a:rPr>
              <a:t>  - GET /api/dashboard (with query params)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  <a:sym typeface="+mn-ea"/>
              </a:rPr>
              <a:t>  - GET /api/dashboard/history-pagination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  <a:sym typeface="+mn-ea"/>
              </a:rPr>
              <a:t>  - POST/PATCH/DELETE /api/create-expenses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  <a:sym typeface="+mn-ea"/>
              </a:rPr>
              <a:t>  - GET /api/categories/active</a:t>
            </a:r>
            <a:endParaRPr lang="en-US" altLang="en-US" sz="1600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1"/>
            </a:gs>
            <a:gs pos="100000">
              <a:srgbClr val="0E2557"/>
            </a:gs>
          </a:gsLst>
          <a:lin ang="0" scaled="0"/>
        </a:gradFill>
        <a:effectLst/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838200" y="61595"/>
            <a:ext cx="10996295" cy="1038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742950" lvl="0" indent="-742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+mj-lt"/>
              <a:buAutoNum type="arabicParenR" startAt="2"/>
            </a:pPr>
            <a:r>
              <a:rPr lang="en-US" altLang="en-US" sz="4000" b="1">
                <a:solidFill>
                  <a:schemeClr val="lt1"/>
                </a:solidFill>
                <a:sym typeface="+mn-ea"/>
              </a:rPr>
              <a:t>React Frontend Development Prompt(7)</a:t>
            </a:r>
            <a:endParaRPr lang="en-US" altLang="en-US" sz="4000" b="1">
              <a:solidFill>
                <a:schemeClr val="lt1"/>
              </a:solidFill>
            </a:endParaRPr>
          </a:p>
        </p:txBody>
      </p:sp>
      <p:sp>
        <p:nvSpPr>
          <p:cNvPr id="96" name="Google Shape;96;p2"/>
          <p:cNvSpPr txBox="1"/>
          <p:nvPr>
            <p:ph type="body" idx="1"/>
          </p:nvPr>
        </p:nvSpPr>
        <p:spPr>
          <a:xfrm>
            <a:off x="838200" y="1007110"/>
            <a:ext cx="5661025" cy="585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**STATE MANAGEMENT:**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Redux slices for: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- User authentication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- Dashboard data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- Expenses list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- Categories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- UI state (loading, errors)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**ROUTING STRUCTURE:**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Public routes: login/ /SignUp, /authSuccess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Protected routes: /user/dashboard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Role-based access control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- 404 handling</a:t>
            </a:r>
            <a:endParaRPr lang="en-US" altLang="en-US" sz="1600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1"/>
            </a:gs>
            <a:gs pos="100000">
              <a:srgbClr val="0E2557"/>
            </a:gs>
          </a:gsLst>
          <a:lin ang="0" scaled="0"/>
        </a:gradFill>
        <a:effectLst/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838200" y="61595"/>
            <a:ext cx="10996295" cy="1038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742950" lvl="0" indent="-742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+mj-lt"/>
              <a:buAutoNum type="arabicParenR" startAt="2"/>
            </a:pPr>
            <a:r>
              <a:rPr lang="en-US" altLang="en-US" sz="4000" b="1">
                <a:solidFill>
                  <a:schemeClr val="lt1"/>
                </a:solidFill>
                <a:sym typeface="+mn-ea"/>
              </a:rPr>
              <a:t>React Frontend Development Prompt(8)</a:t>
            </a:r>
            <a:endParaRPr lang="en-US" altLang="en-US" sz="4000" b="1">
              <a:solidFill>
                <a:schemeClr val="lt1"/>
              </a:solidFill>
            </a:endParaRPr>
          </a:p>
        </p:txBody>
      </p:sp>
      <p:sp>
        <p:nvSpPr>
          <p:cNvPr id="96" name="Google Shape;96;p2"/>
          <p:cNvSpPr txBox="1"/>
          <p:nvPr>
            <p:ph type="body" idx="1"/>
          </p:nvPr>
        </p:nvSpPr>
        <p:spPr>
          <a:xfrm>
            <a:off x="838200" y="1007110"/>
            <a:ext cx="5661025" cy="585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3. **ExpenseForm.jsx:**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Reusable for both create and edit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Category dropdown from API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Quick amount buttons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Date picker with default to today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Form validation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4. **ExpenseHistory.jsx:**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Search and filter functionality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Pagination controls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Sortable columns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Bulk actions (edit/delete)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Client-side filtering for performance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endParaRPr lang="en-US" altLang="en-US" sz="1600">
              <a:solidFill>
                <a:schemeClr val="lt1"/>
              </a:solidFill>
            </a:endParaRPr>
          </a:p>
        </p:txBody>
      </p:sp>
      <p:sp>
        <p:nvSpPr>
          <p:cNvPr id="2" name="Google Shape;96;p2"/>
          <p:cNvSpPr txBox="1"/>
          <p:nvPr/>
        </p:nvSpPr>
        <p:spPr>
          <a:xfrm>
            <a:off x="5621655" y="924560"/>
            <a:ext cx="6570980" cy="563308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5. **Banner.jsx:**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Responsive header with logo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User dropdown menu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Logout functionality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Footer with links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Generate the complete source code for all components, Redux configuration, routing, and necessary utility functions. Include proper error handling, loading states, and responsive design throughout.</a:t>
            </a:r>
            <a:endParaRPr lang="en-US" altLang="en-US" sz="1600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1"/>
            </a:gs>
            <a:gs pos="100000">
              <a:srgbClr val="0E2557"/>
            </a:gs>
          </a:gsLst>
          <a:lin ang="0" scaled="0"/>
        </a:gradFill>
        <a:effectLst/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838200" y="61595"/>
            <a:ext cx="10996295" cy="1038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742950" lvl="0" indent="-742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+mj-lt"/>
              <a:buAutoNum type="arabicParenR" startAt="2"/>
            </a:pPr>
            <a:r>
              <a:rPr lang="en-US" altLang="en-US" sz="4000" b="1">
                <a:solidFill>
                  <a:schemeClr val="lt1"/>
                </a:solidFill>
                <a:sym typeface="+mn-ea"/>
              </a:rPr>
              <a:t>React Frontend Development Prompt(9)</a:t>
            </a:r>
            <a:endParaRPr lang="en-US" altLang="en-US" sz="4000" b="1">
              <a:solidFill>
                <a:schemeClr val="lt1"/>
              </a:solidFill>
            </a:endParaRPr>
          </a:p>
        </p:txBody>
      </p:sp>
      <p:sp>
        <p:nvSpPr>
          <p:cNvPr id="96" name="Google Shape;96;p2"/>
          <p:cNvSpPr txBox="1"/>
          <p:nvPr>
            <p:ph type="body" idx="1"/>
          </p:nvPr>
        </p:nvSpPr>
        <p:spPr>
          <a:xfrm>
            <a:off x="838200" y="1007110"/>
            <a:ext cx="10996295" cy="585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lumMod val="40000"/>
                    <a:lumOff val="60000"/>
                  </a:schemeClr>
                </a:solidFill>
                <a:effectLst/>
              </a:rPr>
              <a:t> Shorter Version</a:t>
            </a:r>
            <a:endParaRPr lang="en-US" altLang="en-US" sz="16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  <a:lumMod val="40000"/>
                  <a:lumOff val="60000"/>
                </a:schemeClr>
              </a:solidFill>
              <a:effectLst/>
            </a:endParaRPr>
          </a:p>
          <a:p>
            <a:pPr marL="635000" lvl="1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Build a React expense tracker frontend with: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JWT authentication + protected routes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Dashboard with expense statistics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Expense CRUD operations (create, read, update, delete)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Category management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Advanced filtering and pagination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Redux state management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Tailwind CSS + responsive design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Include: Login/Signup, User Dashboard, Expense Form, Expense History, Header/Footer components with full API integration to Spring Boot backend.</a:t>
            </a:r>
            <a:endParaRPr lang="en-US" altLang="en-US" sz="1600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1"/>
            </a:gs>
            <a:gs pos="100000">
              <a:srgbClr val="0E2557"/>
            </a:gs>
          </a:gsLst>
          <a:lin ang="0" scaled="0"/>
        </a:gradFill>
        <a:effectLst/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838200" y="61595"/>
            <a:ext cx="10996295" cy="1038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742950" lvl="0" indent="-742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+mj-lt"/>
              <a:buAutoNum type="arabicParenR" startAt="2"/>
            </a:pPr>
            <a:r>
              <a:rPr lang="en-US" altLang="en-US" sz="4000" b="1">
                <a:solidFill>
                  <a:schemeClr val="lt1"/>
                </a:solidFill>
                <a:sym typeface="+mn-ea"/>
              </a:rPr>
              <a:t>React Frontend Development Prompt(9)</a:t>
            </a:r>
            <a:endParaRPr lang="en-US" altLang="en-US" sz="4000" b="1">
              <a:solidFill>
                <a:schemeClr val="lt1"/>
              </a:solidFill>
            </a:endParaRPr>
          </a:p>
        </p:txBody>
      </p:sp>
      <p:sp>
        <p:nvSpPr>
          <p:cNvPr id="96" name="Google Shape;96;p2"/>
          <p:cNvSpPr txBox="1"/>
          <p:nvPr>
            <p:ph type="body" idx="1"/>
          </p:nvPr>
        </p:nvSpPr>
        <p:spPr>
          <a:xfrm>
            <a:off x="838200" y="1007110"/>
            <a:ext cx="10996295" cy="585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lumMod val="40000"/>
                    <a:lumOff val="60000"/>
                  </a:schemeClr>
                </a:solidFill>
                <a:effectLst/>
              </a:rPr>
              <a:t> Additional Context for Better Results</a:t>
            </a:r>
            <a:endParaRPr lang="en-US" altLang="en-US" sz="16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  <a:lumMod val="40000"/>
                  <a:lumOff val="60000"/>
                </a:schemeClr>
              </a:solidFill>
              <a:effectLst/>
            </a:endParaRPr>
          </a:p>
          <a:p>
            <a:pPr marL="635000" lvl="1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**ADDITIONAL REQUIREMENTS:**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Use functional components with hooks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Implement proper error boundaries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Add loading skeletons for better UX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Include form validation with user-friendly messages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Support for currency formatting (USD)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Responsive design for mobile/tablet/desktop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Accessibility considerations (ARIA labels, keyboard navigation)</a:t>
            </a:r>
            <a:endParaRPr lang="en-US" altLang="en-US" sz="1600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1"/>
            </a:gs>
            <a:gs pos="100000">
              <a:srgbClr val="0E2557"/>
            </a:gs>
          </a:gsLst>
          <a:lin ang="0" scaled="0"/>
        </a:gradFill>
        <a:effectLst/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838200" y="61595"/>
            <a:ext cx="10996295" cy="1038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742950" lvl="0" indent="-742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+mj-lt"/>
              <a:buAutoNum type="arabicParenR" startAt="3"/>
            </a:pPr>
            <a:r>
              <a:rPr lang="en-US" altLang="en-US" sz="4000" b="1">
                <a:solidFill>
                  <a:schemeClr val="lt1"/>
                </a:solidFill>
                <a:sym typeface="+mn-ea"/>
              </a:rPr>
              <a:t>SwiftUI iOS Development Prompt(1)</a:t>
            </a:r>
            <a:endParaRPr lang="en-US" altLang="en-US" sz="4000" b="1">
              <a:solidFill>
                <a:schemeClr val="lt1"/>
              </a:solidFill>
            </a:endParaRPr>
          </a:p>
        </p:txBody>
      </p:sp>
      <p:sp>
        <p:nvSpPr>
          <p:cNvPr id="96" name="Google Shape;96;p2"/>
          <p:cNvSpPr txBox="1"/>
          <p:nvPr>
            <p:ph type="body" idx="1"/>
          </p:nvPr>
        </p:nvSpPr>
        <p:spPr>
          <a:xfrm>
            <a:off x="838200" y="1007110"/>
            <a:ext cx="10996295" cy="585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Create a complete iOS expense tracker application using SwiftUI with the following specifications: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**PROJECT REQUIREMENTS:**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SwiftUI with iOS 17+ as deployment target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MVVM (Model-View-ViewModel) architecture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JWT-based authentication with token refresh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Alamofire for network requests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Swift Concurrency (async/await)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Observation framework for state management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Integration with Spring Boot backend API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endParaRPr lang="en-US" altLang="en-US" sz="1600">
              <a:solidFill>
                <a:schemeClr val="lt1"/>
              </a:solidFill>
            </a:endParaRPr>
          </a:p>
        </p:txBody>
      </p:sp>
      <p:sp>
        <p:nvSpPr>
          <p:cNvPr id="2" name="Google Shape;96;p2"/>
          <p:cNvSpPr txBox="1"/>
          <p:nvPr/>
        </p:nvSpPr>
        <p:spPr>
          <a:xfrm>
            <a:off x="5774690" y="1903095"/>
            <a:ext cx="5366385" cy="449389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  <a:sym typeface="+mn-ea"/>
              </a:rPr>
              <a:t>**TECHNICAL STACK:**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  <a:sym typeface="+mn-ea"/>
              </a:rPr>
              <a:t>- SwiftUI + Observation framework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  <a:sym typeface="+mn-ea"/>
              </a:rPr>
              <a:t>- Alamofire for HTTP requests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  <a:sym typeface="+mn-ea"/>
              </a:rPr>
              <a:t>- Swift Concurrency (async/await)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  <a:sym typeface="+mn-ea"/>
              </a:rPr>
              <a:t>- JWT token management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  <a:sym typeface="+mn-ea"/>
              </a:rPr>
              <a:t>- Charts framework for data visualization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  <a:sym typeface="+mn-ea"/>
              </a:rPr>
              <a:t>- ChatGPT integration for AI assistance</a:t>
            </a:r>
            <a:endParaRPr lang="en-US" altLang="en-US" sz="1600">
              <a:solidFill>
                <a:schemeClr val="lt1"/>
              </a:solidFill>
              <a:sym typeface="+mn-ea"/>
            </a:endParaRPr>
          </a:p>
          <a:p>
            <a:pPr marL="0" lvl="1" indent="457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  <a:sym typeface="+mn-ea"/>
              </a:rPr>
              <a:t> **PROJECT STRUCTURE (MVVM):**</a:t>
            </a:r>
            <a:endParaRPr lang="en-US" altLang="en-US" sz="1600">
              <a:solidFill>
                <a:schemeClr val="lt1"/>
              </a:solidFill>
              <a:sym typeface="+mn-ea"/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endParaRPr lang="en-US" altLang="en-US" sz="1600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1"/>
            </a:gs>
            <a:gs pos="100000">
              <a:srgbClr val="0E2557"/>
            </a:gs>
          </a:gsLst>
          <a:lin ang="0" scaled="0"/>
        </a:gradFill>
        <a:effectLst/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838200" y="61595"/>
            <a:ext cx="10996295" cy="1038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742950" lvl="0" indent="-742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+mj-lt"/>
              <a:buAutoNum type="arabicParenR" startAt="3"/>
            </a:pPr>
            <a:r>
              <a:rPr lang="en-US" altLang="en-US" sz="4000" b="1">
                <a:solidFill>
                  <a:schemeClr val="lt1"/>
                </a:solidFill>
                <a:sym typeface="+mn-ea"/>
              </a:rPr>
              <a:t>SwiftUI iOS Development Prompt(2)</a:t>
            </a:r>
            <a:endParaRPr lang="en-US" altLang="en-US" sz="4000" b="1">
              <a:solidFill>
                <a:schemeClr val="lt1"/>
              </a:solidFill>
            </a:endParaRPr>
          </a:p>
        </p:txBody>
      </p:sp>
      <p:sp>
        <p:nvSpPr>
          <p:cNvPr id="3" name="Google Shape;96;p2"/>
          <p:cNvSpPr txBox="1"/>
          <p:nvPr/>
        </p:nvSpPr>
        <p:spPr>
          <a:xfrm>
            <a:off x="1068705" y="1100455"/>
            <a:ext cx="5378450" cy="575818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**KEY FEATURES NEEDED:**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1. **Authentication System:**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JWT login with email/password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Token refresh mechanism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Auto-logout on session expiration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Secure credential storage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2. **Onboarding Experience:**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Animated introduction screens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Interactive page transitions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Dynamic gradient backgrounds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Smooth animations and gestures</a:t>
            </a:r>
            <a:endParaRPr lang="en-US" altLang="en-US" sz="1600">
              <a:solidFill>
                <a:schemeClr val="lt1"/>
              </a:solidFill>
            </a:endParaRPr>
          </a:p>
        </p:txBody>
      </p:sp>
      <p:sp>
        <p:nvSpPr>
          <p:cNvPr id="4" name="Google Shape;96;p2"/>
          <p:cNvSpPr txBox="1"/>
          <p:nvPr/>
        </p:nvSpPr>
        <p:spPr>
          <a:xfrm>
            <a:off x="6256655" y="1100455"/>
            <a:ext cx="6099810" cy="627761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35000" lvl="1" indent="0" algn="l" rtl="0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3. **Dashboard:**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Animated summary cards with counting numbers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Interactive pie charts with Charts framework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Recent expenses list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Pull-to-refresh functionality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Error handling with retry mechanisms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4. **Expense Management:**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CRUD operations for expenses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Advanced filtering by categories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Multiple sorting options (date, amount, name)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Pagination with infinite scrolling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Swipe actions for edit/delete (iOS)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Context menus for edit/delete (macOS)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endParaRPr lang="en-US" altLang="en-US" sz="1600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1"/>
            </a:gs>
            <a:gs pos="100000">
              <a:srgbClr val="0E2557"/>
            </a:gs>
          </a:gsLst>
          <a:lin ang="0" scaled="0"/>
        </a:gradFill>
        <a:effectLst/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838200" y="61595"/>
            <a:ext cx="10996295" cy="1038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742950" lvl="0" indent="-742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+mj-lt"/>
              <a:buAutoNum type="arabicParenR" startAt="3"/>
            </a:pPr>
            <a:r>
              <a:rPr lang="en-US" altLang="en-US" sz="4000" b="1">
                <a:solidFill>
                  <a:schemeClr val="lt1"/>
                </a:solidFill>
                <a:sym typeface="+mn-ea"/>
              </a:rPr>
              <a:t>SwiftUI iOS Development Prompt(3)</a:t>
            </a:r>
            <a:endParaRPr lang="en-US" altLang="en-US" sz="4000" b="1">
              <a:solidFill>
                <a:schemeClr val="lt1"/>
              </a:solidFill>
            </a:endParaRPr>
          </a:p>
        </p:txBody>
      </p:sp>
      <p:sp>
        <p:nvSpPr>
          <p:cNvPr id="3" name="Google Shape;96;p2"/>
          <p:cNvSpPr txBox="1"/>
          <p:nvPr/>
        </p:nvSpPr>
        <p:spPr>
          <a:xfrm>
            <a:off x="1068705" y="1100455"/>
            <a:ext cx="5378450" cy="575818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3500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5. **AI Assistant Integration:**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Text-based chat with ChatGPT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Voice-based chat with speech recognition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Function calling for expense operations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Natural language expense creation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Expense listing and visualization via AI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6. **UI/UX Components:**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Custom animated pie charts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Shimmer loading effects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Pull-to-refresh with custom indicators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Responsive design for iOS/macOS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Dark mode support with system colors</a:t>
            </a:r>
            <a:endParaRPr lang="en-US" altLang="en-US" sz="1600">
              <a:solidFill>
                <a:schemeClr val="lt1"/>
              </a:solidFill>
            </a:endParaRPr>
          </a:p>
        </p:txBody>
      </p:sp>
      <p:sp>
        <p:nvSpPr>
          <p:cNvPr id="4" name="Google Shape;96;p2"/>
          <p:cNvSpPr txBox="1"/>
          <p:nvPr/>
        </p:nvSpPr>
        <p:spPr>
          <a:xfrm>
            <a:off x="6256655" y="1100455"/>
            <a:ext cx="6099810" cy="627761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35000" lvl="1" indent="0" algn="l" rtl="0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**NETWORK INTEGRATION:**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Base URL: http://localhost:8080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Endpoints: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- POST /auth/login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- GET /api/dashboard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- GET/POST/PATCH/DELETE /api/create-expenses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- GET /api/dashboard/history-pagination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JWT authentication with Bearer tokens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Automatic token refresh on 401 responses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endParaRPr lang="en-US" altLang="en-US" sz="1600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1"/>
            </a:gs>
            <a:gs pos="100000">
              <a:srgbClr val="0E2557"/>
            </a:gs>
          </a:gsLst>
          <a:lin ang="0" scaled="0"/>
        </a:gradFill>
        <a:effectLst/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838200" y="61595"/>
            <a:ext cx="10996295" cy="1038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742950" lvl="0" indent="-742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+mj-lt"/>
              <a:buAutoNum type="arabicParenR" startAt="3"/>
            </a:pPr>
            <a:r>
              <a:rPr lang="en-US" altLang="en-US" sz="4000" b="1">
                <a:solidFill>
                  <a:schemeClr val="lt1"/>
                </a:solidFill>
                <a:sym typeface="+mn-ea"/>
              </a:rPr>
              <a:t>SwiftUI iOS Development Prompt(4)</a:t>
            </a:r>
            <a:endParaRPr lang="en-US" altLang="en-US" sz="4000" b="1">
              <a:solidFill>
                <a:schemeClr val="lt1"/>
              </a:solidFill>
            </a:endParaRPr>
          </a:p>
        </p:txBody>
      </p:sp>
      <p:sp>
        <p:nvSpPr>
          <p:cNvPr id="3" name="Google Shape;96;p2"/>
          <p:cNvSpPr txBox="1"/>
          <p:nvPr/>
        </p:nvSpPr>
        <p:spPr>
          <a:xfrm>
            <a:off x="1068705" y="1100455"/>
            <a:ext cx="5378450" cy="575818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3500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**SPECIFIC TECHNICAL REQUIREMENTS:**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1. **Authentication Flow:**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Login with email/password validation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JWT token storage and management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Automatic token refresh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Session expiration handling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2. **Dashboard Features:**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Animated number counting in summary cards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Interactive pie charts with category breakdown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Real-time data updates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Error states with recovery options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endParaRPr lang="en-US" altLang="en-US" sz="1600">
              <a:solidFill>
                <a:schemeClr val="lt1"/>
              </a:solidFill>
            </a:endParaRPr>
          </a:p>
        </p:txBody>
      </p:sp>
      <p:sp>
        <p:nvSpPr>
          <p:cNvPr id="4" name="Google Shape;96;p2"/>
          <p:cNvSpPr txBox="1"/>
          <p:nvPr/>
        </p:nvSpPr>
        <p:spPr>
          <a:xfrm>
            <a:off x="5891530" y="1100455"/>
            <a:ext cx="6464935" cy="627761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35000" lvl="1" indent="0" algn="l" rtl="0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3. **Expense Management:**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Create/edit expense forms with validation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Category selection with custom icons/colors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Date picker with proper formatting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Bulk operations and filtering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4. **AI Assistant:**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Integration with OpenAI ChatGPT API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Function calling for expense operations: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addExpenseLog: Create expenses via natural language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listExpenses: Query and filter expenses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visualizeExpenses: Generate charts from data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Voice recognition and text-to-speech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Confirmation flows for expense creation</a:t>
            </a:r>
            <a:endParaRPr lang="en-US" altLang="en-US" sz="1600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1"/>
            </a:gs>
            <a:gs pos="100000">
              <a:srgbClr val="0E2557"/>
            </a:gs>
          </a:gsLst>
          <a:lin ang="0" scaled="0"/>
        </a:gradFill>
        <a:effectLst/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838200" y="61595"/>
            <a:ext cx="10996295" cy="1038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742950" lvl="0" indent="-742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+mj-lt"/>
              <a:buAutoNum type="arabicParenR" startAt="3"/>
            </a:pPr>
            <a:r>
              <a:rPr lang="en-US" altLang="en-US" sz="4000" b="1">
                <a:solidFill>
                  <a:schemeClr val="lt1"/>
                </a:solidFill>
                <a:sym typeface="+mn-ea"/>
              </a:rPr>
              <a:t>SwiftUI iOS Development Prompt(5)</a:t>
            </a:r>
            <a:endParaRPr lang="en-US" altLang="en-US" sz="4000" b="1">
              <a:solidFill>
                <a:schemeClr val="lt1"/>
              </a:solidFill>
            </a:endParaRPr>
          </a:p>
        </p:txBody>
      </p:sp>
      <p:sp>
        <p:nvSpPr>
          <p:cNvPr id="3" name="Google Shape;96;p2"/>
          <p:cNvSpPr txBox="1"/>
          <p:nvPr/>
        </p:nvSpPr>
        <p:spPr>
          <a:xfrm>
            <a:off x="608965" y="1100455"/>
            <a:ext cx="5838190" cy="575818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3500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5. **State Management:**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@Observable for view models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Swift Concurrency for async operations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Proper error handling and loading states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   - EnvironmentObject for shared state (AuthManager)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endParaRPr lang="en-US" altLang="en-US" sz="1600">
              <a:solidFill>
                <a:schemeClr val="lt1"/>
              </a:solidFill>
            </a:endParaRPr>
          </a:p>
          <a:p>
            <a:pPr marL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  <a:sym typeface="+mn-ea"/>
              </a:rPr>
              <a:t>Generate the complete source code for all models, view models, views, services, and helpers. Include proper error handling, loading states, animations, and platform-specific implementations.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endParaRPr lang="en-US" altLang="en-US" sz="1600">
              <a:solidFill>
                <a:schemeClr val="lt1"/>
              </a:solidFill>
            </a:endParaRPr>
          </a:p>
        </p:txBody>
      </p:sp>
      <p:sp>
        <p:nvSpPr>
          <p:cNvPr id="4" name="Google Shape;96;p2"/>
          <p:cNvSpPr txBox="1"/>
          <p:nvPr/>
        </p:nvSpPr>
        <p:spPr>
          <a:xfrm>
            <a:off x="6256655" y="1100455"/>
            <a:ext cx="6099810" cy="627761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35000" lvl="1" indent="0" algn="l" rtl="0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**ANIMATION REQUIREMENTS:**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Spring animations for card appearances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Counting number animations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Pie chart sector animations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Pull-to-refresh with custom progress indicators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Smooth page transitions and gestures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Shimmer effects for loading states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2800"/>
              <a:buFont typeface="+mj-lt"/>
              <a:buNone/>
            </a:pP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**PLATFORM SUPPORT:**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iOS primary focus with iOS 17+ features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macOS compatibility where specified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Adaptive layouts for different screen sizes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indent="0" algn="l" rtl="0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Contextual UI patterns per platform</a:t>
            </a:r>
            <a:endParaRPr lang="en-US" altLang="en-US" sz="1600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1"/>
            </a:gs>
            <a:gs pos="100000">
              <a:srgbClr val="0E2557"/>
            </a:gs>
          </a:gsLst>
          <a:lin ang="0" scaled="0"/>
        </a:gradFill>
        <a:effectLst/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838200" y="61595"/>
            <a:ext cx="10996295" cy="1038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742950" lvl="0" indent="-742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+mj-lt"/>
              <a:buAutoNum type="arabicParenR" startAt="3"/>
            </a:pPr>
            <a:r>
              <a:rPr lang="en-US" altLang="en-US" sz="4000" b="1">
                <a:solidFill>
                  <a:schemeClr val="lt1"/>
                </a:solidFill>
                <a:sym typeface="+mn-ea"/>
              </a:rPr>
              <a:t>SwiftUI iOS Development Prompt(6)</a:t>
            </a:r>
            <a:endParaRPr lang="en-US" altLang="en-US" sz="4000" b="1">
              <a:solidFill>
                <a:schemeClr val="lt1"/>
              </a:solidFill>
            </a:endParaRPr>
          </a:p>
        </p:txBody>
      </p:sp>
      <p:sp>
        <p:nvSpPr>
          <p:cNvPr id="3" name="Google Shape;96;p2"/>
          <p:cNvSpPr txBox="1"/>
          <p:nvPr/>
        </p:nvSpPr>
        <p:spPr>
          <a:xfrm>
            <a:off x="1068705" y="1100455"/>
            <a:ext cx="9687560" cy="575818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3500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lumMod val="40000"/>
                    <a:lumOff val="60000"/>
                  </a:schemeClr>
                </a:solidFill>
                <a:effectLst/>
              </a:rPr>
              <a:t>Shorter Version</a:t>
            </a:r>
            <a:endParaRPr lang="en-US" altLang="en-US" sz="16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  <a:lumMod val="40000"/>
                  <a:lumOff val="60000"/>
                </a:schemeClr>
              </a:solidFill>
              <a:effectLst/>
            </a:endParaRPr>
          </a:p>
          <a:p>
            <a:pPr marL="63500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endParaRPr lang="en-US" altLang="en-US" sz="16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  <a:lumMod val="40000"/>
                  <a:lumOff val="60000"/>
                </a:schemeClr>
              </a:solidFill>
              <a:effectLst/>
            </a:endParaRPr>
          </a:p>
          <a:p>
            <a:pPr marL="635000" lvl="1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Build a SwiftUI expense tracker iOS app with: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JWT authentication + token refresh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Animated dashboard with charts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Expense CRUD with filtering/sorting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AI assistant with ChatGPT integration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Voice and text chat for expense management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MVVM architecture with Observation framework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endParaRPr lang="en-US" altLang="en-US" sz="1600">
              <a:solidFill>
                <a:schemeClr val="lt1"/>
              </a:solidFill>
            </a:endParaRPr>
          </a:p>
          <a:p>
            <a:pPr marL="635000" lvl="1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Include: Onboarding, Login, Dashboard, Expense List/Form, AI Assistant, and all necessary services and models.</a:t>
            </a:r>
            <a:endParaRPr lang="en-US" altLang="en-US" sz="1600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1"/>
            </a:gs>
            <a:gs pos="100000">
              <a:srgbClr val="0E2557"/>
            </a:gs>
          </a:gsLst>
          <a:lin ang="0" scaled="0"/>
        </a:gradFill>
        <a:effectLst/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838200" y="61595"/>
            <a:ext cx="10996295" cy="1038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742950" lvl="0" indent="-742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+mj-lt"/>
              <a:buAutoNum type="arabicParenR" startAt="3"/>
            </a:pPr>
            <a:r>
              <a:rPr lang="en-US" altLang="en-US" sz="4000" b="1">
                <a:solidFill>
                  <a:schemeClr val="lt1"/>
                </a:solidFill>
                <a:sym typeface="+mn-ea"/>
              </a:rPr>
              <a:t>SwiftUI iOS Development Prompt(7)</a:t>
            </a:r>
            <a:endParaRPr lang="en-US" altLang="en-US" sz="4000" b="1">
              <a:solidFill>
                <a:schemeClr val="lt1"/>
              </a:solidFill>
            </a:endParaRPr>
          </a:p>
        </p:txBody>
      </p:sp>
      <p:sp>
        <p:nvSpPr>
          <p:cNvPr id="3" name="Google Shape;96;p2"/>
          <p:cNvSpPr txBox="1"/>
          <p:nvPr/>
        </p:nvSpPr>
        <p:spPr>
          <a:xfrm>
            <a:off x="1068705" y="1100455"/>
            <a:ext cx="9687560" cy="575818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3500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lumMod val="40000"/>
                    <a:lumOff val="60000"/>
                  </a:schemeClr>
                </a:solidFill>
                <a:effectLst/>
              </a:rPr>
              <a:t>Additional Context for Better Results</a:t>
            </a:r>
            <a:endParaRPr lang="en-US" altLang="en-US" sz="16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  <a:lumMod val="40000"/>
                  <a:lumOff val="60000"/>
                </a:schemeClr>
              </a:solidFill>
              <a:effectLst/>
            </a:endParaRPr>
          </a:p>
          <a:p>
            <a:pPr marL="635000" lvl="1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**IMPLEMENTATION NOTES:**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Use @Observable for all view models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Implement proper error handling with user-friendly messages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Add loading states with shimmer effects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Support both light and dark mode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Include accessibility features (VoiceOver, Dynamic Type)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Implement proper memory management and cancellation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Add comprehensive logging for debugging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r>
              <a:rPr lang="en-US" altLang="en-US" sz="1600">
                <a:solidFill>
                  <a:schemeClr val="lt1"/>
                </a:solidFill>
              </a:rPr>
              <a:t>- Include unit tests for view models and services</a:t>
            </a:r>
            <a:endParaRPr lang="en-US" altLang="en-US" sz="1600">
              <a:solidFill>
                <a:schemeClr val="lt1"/>
              </a:solidFill>
            </a:endParaRPr>
          </a:p>
          <a:p>
            <a:pPr marL="635000" lvl="1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+mj-lt"/>
              <a:buNone/>
            </a:pPr>
            <a:endParaRPr lang="en-US" altLang="en-US" sz="1600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1"/>
            </a:gs>
            <a:gs pos="100000">
              <a:srgbClr val="0E2557"/>
            </a:gs>
          </a:gsLst>
          <a:lin ang="0" scaled="0"/>
        </a:gradFill>
        <a:effectLst/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3"/>
          <p:cNvSpPr txBox="1"/>
          <p:nvPr>
            <p:ph type="title"/>
          </p:nvPr>
        </p:nvSpPr>
        <p:spPr>
          <a:xfrm>
            <a:off x="673735" y="2333625"/>
            <a:ext cx="10515600" cy="2801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Calibri"/>
              <a:buNone/>
            </a:pPr>
            <a:r>
              <a:rPr lang="en-US" sz="9600" b="1">
                <a:solidFill>
                  <a:schemeClr val="lt1"/>
                </a:solidFill>
              </a:rPr>
              <a:t>Thank you!</a:t>
            </a:r>
            <a:endParaRPr sz="9600" b="1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heel spokes="8"/>
      </p:transition>
    </mc:Choice>
    <mc:Fallback>
      <p:transition spd="slow">
        <p:wheel spokes="8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12495</Words>
  <Application>WPS Presentation</Application>
  <PresentationFormat/>
  <Paragraphs>423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9" baseType="lpstr">
      <vt:lpstr>Arial</vt:lpstr>
      <vt:lpstr>SimSun</vt:lpstr>
      <vt:lpstr>Wingdings</vt:lpstr>
      <vt:lpstr>Arial</vt:lpstr>
      <vt:lpstr>Calibri</vt:lpstr>
      <vt:lpstr>Helvetica Neue</vt:lpstr>
      <vt:lpstr>Quattrocento Sans</vt:lpstr>
      <vt:lpstr>Microsoft YaHei</vt:lpstr>
      <vt:lpstr>汉仪旗黑</vt:lpstr>
      <vt:lpstr>Arial Unicode MS</vt:lpstr>
      <vt:lpstr>宋体-简</vt:lpstr>
      <vt:lpstr>Office Theme</vt:lpstr>
      <vt:lpstr>          AI Expense Tracker — Smart Financial Management(promt)</vt:lpstr>
      <vt:lpstr>Content</vt:lpstr>
      <vt:lpstr>1) Spring Boot Backend Development Prompt(1)</vt:lpstr>
      <vt:lpstr>Spring Boot Backend Development Prompt(2)</vt:lpstr>
      <vt:lpstr>Spring Boot Backend Development Prompt(3)</vt:lpstr>
      <vt:lpstr>Spring Boot Backend Development Prompt(4)</vt:lpstr>
      <vt:lpstr>Spring Boot Backend Development Prompt(5)</vt:lpstr>
      <vt:lpstr>Spring Boot Backend Development Prompt(6)</vt:lpstr>
      <vt:lpstr>Spring Boot Backend Development Prompt(7)</vt:lpstr>
      <vt:lpstr>React Frontend Development Prompt(1)</vt:lpstr>
      <vt:lpstr>React Frontend Development Prompt(2)</vt:lpstr>
      <vt:lpstr>React Frontend Development Prompt(3)</vt:lpstr>
      <vt:lpstr>React Frontend Development Prompt(4)</vt:lpstr>
      <vt:lpstr>React Frontend Development Prompt(5)</vt:lpstr>
      <vt:lpstr>React Frontend Development Prompt(6)</vt:lpstr>
      <vt:lpstr>React Frontend Development Prompt(7)</vt:lpstr>
      <vt:lpstr>React Frontend Development Prompt(8)</vt:lpstr>
      <vt:lpstr>React Frontend Development Prompt(9)</vt:lpstr>
      <vt:lpstr>React Frontend Development Prompt(9)</vt:lpstr>
      <vt:lpstr>SwiftUI iOS Development Prompt(1)</vt:lpstr>
      <vt:lpstr>SwiftUI iOS Development Prompt(2)</vt:lpstr>
      <vt:lpstr>SwiftUI iOS Development Prompt(3)</vt:lpstr>
      <vt:lpstr>SwiftUI iOS Development Prompt(4)</vt:lpstr>
      <vt:lpstr>SwiftUI iOS Development Prompt(5)</vt:lpstr>
      <vt:lpstr>SwiftUI iOS Development Prompt(6)</vt:lpstr>
      <vt:lpstr>SwiftUI iOS Development Prompt(7)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   AI Expense Tracker — Smart Financial Management</dc:title>
  <dc:creator>sothea007</dc:creator>
  <cp:lastModifiedBy>nem path</cp:lastModifiedBy>
  <cp:revision>116</cp:revision>
  <dcterms:created xsi:type="dcterms:W3CDTF">2025-11-13T14:24:17Z</dcterms:created>
  <dcterms:modified xsi:type="dcterms:W3CDTF">2025-11-13T14:24:17Z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38E38800404A77083295FB68FC897A9F_43</vt:lpwstr>
  </property>
  <property fmtid="{D5CDD505-2E9C-101B-9397-08002B2CF9AE}" pid="3" name="KSOProductBuildVer">
    <vt:lpwstr>1033-12.1.23150.23150</vt:lpwstr>
  </property>
</Properties>
</file>